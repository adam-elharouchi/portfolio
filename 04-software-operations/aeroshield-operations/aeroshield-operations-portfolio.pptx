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66" d="100"/>
          <a:sy n="166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AeroShield</c:v>
                </c:pt>
              </c:strCache>
            </c:strRef>
          </c:tx>
          <c:spPr>
            <a:ln w="31750" cap="flat">
              <a:solidFill>
                <a:srgbClr val="4A90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90C4"/>
              </a:solidFill>
              <a:ln w="9525" cap="flat">
                <a:solidFill>
                  <a:srgbClr val="4A90C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Quality</c:v>
                </c:pt>
                <c:pt idx="1">
                  <c:v>Dependability</c:v>
                </c:pt>
                <c:pt idx="2">
                  <c:v>Flexibility</c:v>
                </c:pt>
                <c:pt idx="3">
                  <c:v>Cost</c:v>
                </c:pt>
                <c:pt idx="4">
                  <c:v>Speed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54-454B-B627-BBEF0BDB7C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0.47311</cdr:x>
      <cdr:y>0.07111</cdr:y>
    </cdr:from>
    <cdr:to>
      <cdr:x>0.52689</cdr:x>
      <cdr:y>0.15556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364C285-0C36-6B9A-4F62-6B0AD6766EFC}"/>
            </a:ext>
          </a:extLst>
        </cdr:cNvPr>
        <cdr:cNvSpPr txBox="1"/>
      </cdr:nvSpPr>
      <cdr:spPr>
        <a:xfrm xmlns:a="http://schemas.openxmlformats.org/drawingml/2006/main">
          <a:off x="2163055" y="292608"/>
          <a:ext cx="245889" cy="3474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kern="1200" dirty="0"/>
            <a:t>5</a:t>
          </a:r>
        </a:p>
      </cdr:txBody>
    </cdr:sp>
  </cdr:relSizeAnchor>
  <cdr:relSizeAnchor xmlns:cdr="http://schemas.openxmlformats.org/drawingml/2006/chartDrawing">
    <cdr:from>
      <cdr:x>0.84311</cdr:x>
      <cdr:y>0.32192</cdr:y>
    </cdr:from>
    <cdr:to>
      <cdr:x>0.89689</cdr:x>
      <cdr:y>0.40637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67EA252E-274E-EE33-440C-AAAE75E4EAA0}"/>
            </a:ext>
          </a:extLst>
        </cdr:cNvPr>
        <cdr:cNvSpPr txBox="1"/>
      </cdr:nvSpPr>
      <cdr:spPr>
        <a:xfrm xmlns:a="http://schemas.openxmlformats.org/drawingml/2006/main">
          <a:off x="3854695" y="1324651"/>
          <a:ext cx="245889" cy="3474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kern="1200" dirty="0"/>
            <a:t>4</a:t>
          </a:r>
          <a:endParaRPr lang="en-US" sz="1100" kern="1200" dirty="0"/>
        </a:p>
      </cdr:txBody>
    </cdr:sp>
  </cdr:relSizeAnchor>
  <cdr:relSizeAnchor xmlns:cdr="http://schemas.openxmlformats.org/drawingml/2006/chartDrawing">
    <cdr:from>
      <cdr:x>0.71136</cdr:x>
      <cdr:y>0.66702</cdr:y>
    </cdr:from>
    <cdr:to>
      <cdr:x>0.76514</cdr:x>
      <cdr:y>0.72573</cdr:y>
    </cdr:to>
    <cdr:sp macro="" textlink="">
      <cdr:nvSpPr>
        <cdr:cNvPr id="4" name="TextBox 1">
          <a:extLst xmlns:a="http://schemas.openxmlformats.org/drawingml/2006/main">
            <a:ext uri="{FF2B5EF4-FFF2-40B4-BE49-F238E27FC236}">
              <a16:creationId xmlns:a16="http://schemas.microsoft.com/office/drawing/2014/main" id="{B71224FB-DDEC-1C42-8766-2FFD8E1AF803}"/>
            </a:ext>
          </a:extLst>
        </cdr:cNvPr>
        <cdr:cNvSpPr txBox="1"/>
      </cdr:nvSpPr>
      <cdr:spPr>
        <a:xfrm xmlns:a="http://schemas.openxmlformats.org/drawingml/2006/main">
          <a:off x="3252352" y="2744651"/>
          <a:ext cx="245889" cy="24159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kern="1200" dirty="0"/>
            <a:t>3</a:t>
          </a:r>
          <a:endParaRPr lang="en-US" sz="1100" kern="1200" dirty="0"/>
        </a:p>
      </cdr:txBody>
    </cdr:sp>
  </cdr:relSizeAnchor>
  <cdr:relSizeAnchor xmlns:cdr="http://schemas.openxmlformats.org/drawingml/2006/chartDrawing">
    <cdr:from>
      <cdr:x>0.26711</cdr:x>
      <cdr:y>0.76</cdr:y>
    </cdr:from>
    <cdr:to>
      <cdr:x>0.32089</cdr:x>
      <cdr:y>0.81871</cdr:y>
    </cdr:to>
    <cdr:sp macro="" textlink="">
      <cdr:nvSpPr>
        <cdr:cNvPr id="5" name="TextBox 1">
          <a:extLst xmlns:a="http://schemas.openxmlformats.org/drawingml/2006/main">
            <a:ext uri="{FF2B5EF4-FFF2-40B4-BE49-F238E27FC236}">
              <a16:creationId xmlns:a16="http://schemas.microsoft.com/office/drawing/2014/main" id="{16C9B878-B584-83A5-0AE9-30EDCADA51BD}"/>
            </a:ext>
          </a:extLst>
        </cdr:cNvPr>
        <cdr:cNvSpPr txBox="1"/>
      </cdr:nvSpPr>
      <cdr:spPr>
        <a:xfrm xmlns:a="http://schemas.openxmlformats.org/drawingml/2006/main">
          <a:off x="1221223" y="3127248"/>
          <a:ext cx="245889" cy="24159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kern="1200" dirty="0"/>
            <a:t>3</a:t>
          </a:r>
          <a:endParaRPr lang="en-US" sz="1100" kern="1200" dirty="0"/>
        </a:p>
      </cdr:txBody>
    </cdr:sp>
  </cdr:relSizeAnchor>
  <cdr:relSizeAnchor xmlns:cdr="http://schemas.openxmlformats.org/drawingml/2006/chartDrawing">
    <cdr:from>
      <cdr:x>0.16562</cdr:x>
      <cdr:y>0.3193</cdr:y>
    </cdr:from>
    <cdr:to>
      <cdr:x>0.2194</cdr:x>
      <cdr:y>0.39036</cdr:y>
    </cdr:to>
    <cdr:sp macro="" textlink="">
      <cdr:nvSpPr>
        <cdr:cNvPr id="6" name="TextBox 1">
          <a:extLst xmlns:a="http://schemas.openxmlformats.org/drawingml/2006/main">
            <a:ext uri="{FF2B5EF4-FFF2-40B4-BE49-F238E27FC236}">
              <a16:creationId xmlns:a16="http://schemas.microsoft.com/office/drawing/2014/main" id="{165F8BD4-376D-063E-EA90-80337D5EB7AA}"/>
            </a:ext>
          </a:extLst>
        </cdr:cNvPr>
        <cdr:cNvSpPr txBox="1"/>
      </cdr:nvSpPr>
      <cdr:spPr>
        <a:xfrm xmlns:a="http://schemas.openxmlformats.org/drawingml/2006/main">
          <a:off x="757192" y="1313875"/>
          <a:ext cx="245889" cy="29239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kern="1200" dirty="0"/>
            <a:t>2</a:t>
          </a:r>
          <a:endParaRPr lang="en-US" sz="11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034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0" y="203454"/>
            <a:ext cx="292608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2B5F8E"/>
          </a:solidFill>
          <a:ln w="12700">
            <a:solidFill>
              <a:srgbClr val="2B5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0" y="54864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69480" y="54864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80960" y="54864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92440" y="54864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0" y="128016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69480" y="128016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80960" y="128016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92440" y="128016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0" y="201168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69480" y="201168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0" y="201168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92440" y="201168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0" y="274320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69480" y="274320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80960" y="274320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92440" y="274320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0" y="347472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69480" y="347472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80960" y="347472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92440" y="347472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640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AEROSHIELD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10515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Portfolio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3200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Client Challenge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0040" y="2578608"/>
            <a:ext cx="2743200" cy="36576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274320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Polar Diagram · Operational Performance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Process Map &amp; 4Vs Analysis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Throughput &amp; Cycle Time Calculations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Process Type Classification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Technology Recommendations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21031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School</a:t>
            </a:r>
          </a:p>
          <a:p>
            <a:pPr marL="0" indent="0" algn="ctr">
              <a:buNone/>
            </a:pPr>
            <a:endParaRPr lang="en-US" sz="1200" dirty="0">
              <a:solidFill>
                <a:srgbClr val="B8D4F0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cs typeface="Calibri" pitchFamily="34" charset="-120"/>
              </a:rPr>
              <a:t>Adam, Nacer, Daniella, Ana Laura, Ansar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B5F8E"/>
          </a:solidFill>
          <a:ln w="12700">
            <a:solidFill>
              <a:srgbClr val="2B5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· AeroShield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64008" cy="37490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Manufacturer of aerogel-insulated glass units (IGUs) for high-performance building windows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</a:t>
            </a: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Deliver energy-efficient, aesthetically transparent thermal barriers at commercial scale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</a:t>
            </a: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Scaling from R&amp;D pilot (Waltham, 66 sqft/week) → full industrial production (5,600 sqft/week)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</a:t>
            </a: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Patio-size aerogel IGUs | 60 units per vessel run | 2 IGUs per aerogel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</a:t>
            </a: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Premium commercial construction (B2B, make-to-order); long-term contracts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64008" cy="374904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1371600"/>
            <a:ext cx="3931920" cy="640080"/>
          </a:xfrm>
          <a:prstGeom prst="rect">
            <a:avLst/>
          </a:prstGeom>
          <a:solidFill>
            <a:srgbClr val="F4F7FC"/>
          </a:solidFill>
          <a:ln w="1270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64008" cy="640080"/>
          </a:xfrm>
          <a:prstGeom prst="rect">
            <a:avLst/>
          </a:prstGeom>
          <a:solidFill>
            <a:srgbClr val="2EAD6B"/>
          </a:solidFill>
          <a:ln w="12700">
            <a:solidFill>
              <a:srgbClr val="2EA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408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1408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(Scaling)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Waltham pilot → 5,600 sqft/wk target; 60 gels/vessel run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121408"/>
            <a:ext cx="3931920" cy="640080"/>
          </a:xfrm>
          <a:prstGeom prst="rect">
            <a:avLst/>
          </a:prstGeom>
          <a:solidFill>
            <a:srgbClr val="F4F7FC"/>
          </a:solidFill>
          <a:ln w="1270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121408"/>
            <a:ext cx="64008" cy="6400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157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21579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395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product line (Patio IGU); rigid, standardized workflow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871216"/>
            <a:ext cx="3931920" cy="640080"/>
          </a:xfrm>
          <a:prstGeom prst="rect">
            <a:avLst/>
          </a:prstGeom>
          <a:solidFill>
            <a:srgbClr val="F4F7FC"/>
          </a:solidFill>
          <a:ln w="1270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2871216"/>
            <a:ext cx="64008" cy="64008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29077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2907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1455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Batch-cycle schedule; predictable demand; 4–5 runs/week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621024"/>
            <a:ext cx="3931920" cy="640080"/>
          </a:xfrm>
          <a:prstGeom prst="rect">
            <a:avLst/>
          </a:prstGeom>
          <a:solidFill>
            <a:srgbClr val="F4F7FC"/>
          </a:solidFill>
          <a:ln w="12700">
            <a:solidFill>
              <a:srgbClr val="D0D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3621024"/>
            <a:ext cx="64008" cy="640080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3657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657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895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chemical mfg.; no customer contact during production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AeroShield · Operations Portfolio · Hult International Business School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4Vs OPERATIONAL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· Variety · Variation · Visibility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41248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841248"/>
            <a:ext cx="4251960" cy="365760"/>
          </a:xfrm>
          <a:prstGeom prst="rect">
            <a:avLst/>
          </a:prstGeom>
          <a:solidFill>
            <a:srgbClr val="2EAD6B"/>
          </a:solidFill>
          <a:ln w="12700">
            <a:solidFill>
              <a:srgbClr val="2EA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896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Scaling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243584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Waltham pilot: 66 sqft/week (≈3,015 sqft/yr)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target: 5,600 sqft/week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Molding: 65–75 gels per 12h shift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60" vessel: 60 patio gels per run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2860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Enables specialization, capital-intensive automation, and higher resource utilization.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90872" y="841248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90872" y="841248"/>
            <a:ext cx="4251960" cy="36576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  VARIETY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312" y="896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1243584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output: Patio-size IGU only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process: Mold → CPD → Anneal → Composite → IGU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inputs fixed: glass, aerogel, argon, sealant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customization in current phase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22860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Drives lower unit cost and process consistency; limits addressable market in short term.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92608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2926080"/>
            <a:ext cx="4251960" cy="36576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VARIATION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29809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 (Predicted)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" y="3328416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Batch-cycle schedule: 4–5 vessel runs/week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designed for sustained peak (≥2 weeks)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MTO triggers prevent excess inventory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demand volatility due to contract-based B2B model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" y="43708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Predictable scheduling enables high equipment utilization; batch failures create all-or-nothing risk.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90872" y="292608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90872" y="2926080"/>
            <a:ext cx="4251960" cy="365760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8032" y="2980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VISIBILITY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82312" y="29809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328416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customer contact during transformation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 controlled hazmat rooms (H2, Process Room)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lead-time gap: 56h+ end-to-end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receive finished IGU only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437083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visibility supports high staff utilization and standardized workflow; proprietary process protected.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AeroShield · Operations Portfolio · Hult International Business School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DIAGRAM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Performance Objectives · Scale 1–5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762993335"/>
              </p:ext>
            </p:extLst>
          </p:nvPr>
        </p:nvGraphicFramePr>
        <p:xfrm>
          <a:off x="457200" y="822960"/>
          <a:ext cx="4572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841248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303520" y="841248"/>
            <a:ext cx="64008" cy="68580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40680" y="8961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r>
              <a:rPr lang="en-US" sz="11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5/5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40680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priority. Multi-stage defect risk — casting, curing, cutting. No tolerance for failure in building materials.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03520" y="1618488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303520" y="1618488"/>
            <a:ext cx="64008" cy="6858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40680" y="16733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Dependability</a:t>
            </a:r>
            <a:r>
              <a:rPr lang="en-US" sz="11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4/5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0680" y="1892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timelines are strict. Long curing cycles (30h+) mean delays compound rapidly.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03520" y="2395728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303520" y="2395728"/>
            <a:ext cx="64008" cy="685800"/>
          </a:xfrm>
          <a:prstGeom prst="rect">
            <a:avLst/>
          </a:prstGeom>
          <a:solidFill>
            <a:srgbClr val="2B5F8E"/>
          </a:solidFill>
          <a:ln w="12700">
            <a:solidFill>
              <a:srgbClr val="2B5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40680" y="24505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r>
              <a:rPr lang="en-US" sz="1100" b="1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3/5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40680" y="2670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5,600 sqft/wk may require handling diverse sizes — relevant but secondary.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303520" y="3172968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303520" y="3172968"/>
            <a:ext cx="64008" cy="685800"/>
          </a:xfrm>
          <a:prstGeom prst="rect">
            <a:avLst/>
          </a:prstGeom>
          <a:solidFill>
            <a:srgbClr val="0D7A7A"/>
          </a:solidFill>
          <a:ln w="12700">
            <a:solidFill>
              <a:srgbClr val="0D7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40680" y="32278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r>
              <a:rPr lang="en-US" sz="1100" b="1" dirty="0">
                <a:solidFill>
                  <a:srgbClr val="0D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3/5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40680" y="3447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at scale but must not compromise quality during growth phase.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03520" y="3950208"/>
            <a:ext cx="3566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303520" y="3950208"/>
            <a:ext cx="64008" cy="685800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40680" y="40050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r>
              <a:rPr lang="en-US" sz="1100" b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2/5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40680" y="4224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process cannot be accelerated without damaging aerogel structure. Not a competitive lever.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AeroShield · Operations Portfolio · Hult International Business School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 &amp; TYPE CLASSIFICATION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→ Phase 3 · End-to-End Workflow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AeroShield · Operations Portfolio · Hult International Business School 2026</a:t>
            </a:r>
            <a:endParaRPr lang="en-US" sz="800" dirty="0"/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70D5186E-5CCE-EA0D-8552-1BBDA9A62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9144000" cy="4274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TIME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Phase 1.1 · Critical Path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8631936" cy="3200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 Throughput time = total elapsed time per unit/batch through each stage  |  Critical path (aerogel route) dominates  |  Glass washing runs PARALLEL — not additive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551333"/>
              </p:ext>
            </p:extLst>
          </p:nvPr>
        </p:nvGraphicFramePr>
        <p:xfrm>
          <a:off x="1143000" y="1197864"/>
          <a:ext cx="6990270" cy="4061460"/>
        </p:xfrm>
        <a:graphic>
          <a:graphicData uri="http://schemas.openxmlformats.org/drawingml/2006/table">
            <a:tbl>
              <a:tblPr/>
              <a:tblGrid>
                <a:gridCol w="479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Sub-Process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Process Type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Hrs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Path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Bottleneck?</a:t>
                      </a:r>
                      <a:endParaRPr lang="en-US" sz="8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Chemical Dosing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Batch — Preparation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0.5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Gel Casting (12h shift)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Batch — Manufacturing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720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12.0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Gel Initial Curing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Time-Based Wait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60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1.0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Demolding &amp; Transfer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Batch — Handling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0.3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Gel Aging (pre-vessel)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Time-Based Wait / WIP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60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1.0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Load Gels → Vessel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Batch — Handling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30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0.5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Sequential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No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7</a:t>
                      </a:r>
                      <a:endParaRPr lang="en-US" sz="800" b="1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Solvent Exchange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Batch — Chemical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900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15.0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Sequential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  <a:highlight>
                            <a:srgbClr val="FF0000"/>
                          </a:highlight>
                        </a:rPr>
                        <a:t>No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</a:rPr>
                        <a:t>Critical Point Drying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</a:rPr>
                        <a:t>Batch — Capital Intensive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05252"/>
                          </a:solidFill>
                          <a:highlight>
                            <a:srgbClr val="FF0000"/>
                          </a:highlight>
                        </a:rPr>
                        <a:t>900</a:t>
                      </a:r>
                      <a:endParaRPr lang="en-US" sz="800" b="1" dirty="0">
                        <a:highlight>
                          <a:srgbClr val="FF0000"/>
                        </a:highlight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</a:rPr>
                        <a:t>15.0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</a:rPr>
                        <a:t>Sequential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</a:rPr>
                        <a:t>YES ← 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Depressurization Wait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Time-Based Wait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0.5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Unload Aerogels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Batch — Handling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0.3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QC Grading (post-vessel)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Decision Gate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120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2.0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Load → Annealing Oven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Batch — Handling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0.25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Thermal Curing (22h)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Time-Based Wait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1320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22.0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14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Unload + QC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Batch / Decision Gate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0.5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15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Finished Aerogel Storage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WIP Buffer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30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0.5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16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Glass Washing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Batch — PARALLEL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0.1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PARALLEL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 (Parallel)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17–28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Composite + IGU Steps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Assembly / Batch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153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2.55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Sequential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92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End-to-End Critical Path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Aerogel Path + Composite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4,438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~74h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Critical Chain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CPD = Bottleneck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AeroShield · Operations Portfolio · Hult International Business School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CALCULATIONS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vs Phase 1.1 · Bottleneck Identification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8631936" cy="274320"/>
          </a:xfrm>
          <a:prstGeom prst="rect">
            <a:avLst/>
          </a:prstGeom>
          <a:solidFill>
            <a:srgbClr val="2B5F8E"/>
          </a:solidFill>
          <a:ln w="12700">
            <a:solidFill>
              <a:srgbClr val="2B5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Cycle Time (min/unit) = [Shifts/week × Hours/shift × 60] ÷ Units/week     |     Bottleneck = process with HIGHEST cycle time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8631936" cy="256032"/>
          </a:xfrm>
          <a:prstGeom prst="rect">
            <a:avLst/>
          </a:prstGeom>
          <a:solidFill>
            <a:srgbClr val="3A5F8A"/>
          </a:solidFill>
          <a:ln w="12700">
            <a:solidFill>
              <a:srgbClr val="3A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1430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60" Commissioning — 4 vessel runs/week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417320"/>
          <a:ext cx="7717536" cy="19659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Process / Station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Shifts or Runs / Week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Working Hrs / Shift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Avail. Time (min/wk)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Units / Week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CT (min/unit)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CT (hrs/unit)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Bottleneck?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Gel Casting / Molding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12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2,880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264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10.9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0.18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Vessel — Solvex + CPD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24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5,760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240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24.0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0.40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05252"/>
                          </a:solidFill>
                        </a:rPr>
                        <a:t>YES ← SYSTEM BOTTLENECK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Grading / QC (post-vessel)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480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240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0.03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Annealing — Thermal Curing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5,280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240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22.0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0.37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 (tied to vessel batch rate)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Glass Washing (parallel)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2,100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300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0.12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 — PARALLEL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Composite Formation (press)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2,100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240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8.75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0.15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IGU Assembly + Argon Fill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2,100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240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8.75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0.15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Edge Sealing + Final QC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2,100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240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8.75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0.15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56032" y="3154680"/>
            <a:ext cx="8631936" cy="256032"/>
          </a:xfrm>
          <a:prstGeom prst="rect">
            <a:avLst/>
          </a:prstGeom>
          <a:solidFill>
            <a:srgbClr val="3A5F8A"/>
          </a:solidFill>
          <a:ln w="12700">
            <a:solidFill>
              <a:srgbClr val="3A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31546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1.1  |  60" Operational — 5 vessel runs/week  (Δ from Phase 1 highlighted)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429000"/>
          <a:ext cx="7717536" cy="196596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538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Process / Station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Runs/wk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Hrs/Shift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Avail.(min/wk)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Units/wk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CT(min/u)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CT(hrs/u)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Bottleneck?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Δ vs Phase 1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Gel Casting / Molding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12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3,600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330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10.9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0.18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↑ +1 shift/week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Vessel — Solvex + CPD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24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7,200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300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24.0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0.40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E05252"/>
                          </a:solidFill>
                        </a:rPr>
                        <a:t>YES ← BOTTLENECK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↑ +1 run (+60 aerogels/wk)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Grading / QC (post-vessel)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600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300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0.03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 change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Annealing — Thermal Curing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5,280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240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22.0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0.37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8000"/>
                          </a:solidFill>
                        </a:rPr>
                        <a:t>⚠ Monitor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Unchanged — may need +1 run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Glass Washing (parallel)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2,100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300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0.12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 — PARALLEL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 change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Composite Formation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2,100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300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0.12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CT improved vs. P1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IGU Assembly + Argon Fill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2,100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300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0.12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CT improved vs. P1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B1F3A"/>
                          </a:solidFill>
                        </a:rPr>
                        <a:t>Edge Sealing + Final QC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2,100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300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7.0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0.12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B1F3A"/>
                          </a:solidFill>
                        </a:rPr>
                        <a:t>CT improved vs. P1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256032" y="4828032"/>
            <a:ext cx="8631936" cy="13716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4828032"/>
            <a:ext cx="8503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KEY FINDING:  Vessel CPD cycle time = 24.0 min/unit in BOTH phases. Phase 1.1 adds a 5th run for +25% volume — it does NOT remove the bottleneck.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AeroShield · Operations Portfolio · Hult International Business School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DELIVERY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vs Phase 1.1 · KPIs &amp; Operational Implications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156" y="740664"/>
            <a:ext cx="9144000" cy="4572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7148" y="850392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7148" y="850392"/>
            <a:ext cx="1645920" cy="64008"/>
          </a:xfrm>
          <a:prstGeom prst="rect">
            <a:avLst/>
          </a:prstGeom>
          <a:solidFill>
            <a:srgbClr val="2B5F8E"/>
          </a:solidFill>
          <a:ln w="12700">
            <a:solidFill>
              <a:srgbClr val="2B5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22868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22868" y="12984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Aerogels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1)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22868" y="1600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units/week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32796" y="850392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32796" y="850392"/>
            <a:ext cx="1645920" cy="64008"/>
          </a:xfrm>
          <a:prstGeom prst="rect">
            <a:avLst/>
          </a:prstGeom>
          <a:solidFill>
            <a:srgbClr val="2EAD6B"/>
          </a:solidFill>
          <a:ln w="12700">
            <a:solidFill>
              <a:srgbClr val="2EA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78516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78516" y="12984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Aerogels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1.1)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78516" y="1600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units/week (+25%)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88444" y="850392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88444" y="850392"/>
            <a:ext cx="1645920" cy="6400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34164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34164" y="12984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Time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unit)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34164" y="16002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P1 → P1.1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99540" y="850392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99540" y="850392"/>
            <a:ext cx="1645920" cy="6400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90980" y="948287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90980" y="1314047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90980" y="1615799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min/unit both phases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56032" y="1874520"/>
            <a:ext cx="8631936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STRATEGY DIMENSIONS  |  Phase 1 vs. Phase 1.1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148840"/>
          <a:ext cx="8631936" cy="22250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Phase 1 (4 runs/wk)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Phase 1.1 (5 runs/wk)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Operational Implication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Risk / Recommendation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Production Strategy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MTO — Order triggers production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MTO — No change to trigger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Units produced vs. confirmed orders only; no speculative inventory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Explore MTO/MTS hybrid for standard sizes to cut lead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Batch Size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60 aerogels/run (66 cast w/ 10% buffer)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60 aerogels/run; 5 runs/week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Fixed by 60" CPD vessel capacity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Single batch failure = 60-unit loss → in-process QC critical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End-to-End Lead Time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~56 hours (casting → ship)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~56 hours (same per unit)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Customer waits 56h from order confirmation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Pre-position aerogel WIP buffer for priority/repeat orders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WIP Buffers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3 decoupling buffers (pre-vessel, post-CPD, composite)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Same 3 buffers at higher volume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Buffers protect throughput at capital steps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Size each buffer to hold ≥1 full vessel run (60 aerogels min.)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Vessel Utilisation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~71% (30h run in 42h window)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~89% (5×30h/week)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Asset utilisation improves significantly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≤10% slack must be preserved for maintenance &amp; rework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B1F3A"/>
                          </a:solidFill>
                        </a:rPr>
                        <a:t>Quality Gates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2 gates: post-CPD grading + final IGU QC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Same gates at higher volume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Pass/fail decisions critical; failed batches go to scrap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B1F3A"/>
                          </a:solidFill>
                        </a:rPr>
                        <a:t>Implement SPC charts + statistical sampling at both gates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AeroShield · Operations Portfolio · Hult International Business School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Changes to Unlock Throughput &amp; Reduce Risk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4297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4297680" cy="33832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859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Second CPD Vessel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59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Removes Bottleneck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8328" y="12161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1197864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Vessel (CPD) is the system bottleneck in BOTH Phase 1 and 1.1 (24 min/unit CT). A second vessel would double aerogel capacity without changing any other process.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16642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164592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output: 240 → 480+ aerogels/week | Vessel utilisation: 89% → ~45% (healthy) | Eliminates single-point-of-failure risk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" y="21031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4712" y="2084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capital cost (~$250K–$500K range). ROI justified at Phase 1.1 volumes when vessel utilisation exceeds 85%.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822960"/>
            <a:ext cx="4297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822960"/>
            <a:ext cx="4297680" cy="338328"/>
          </a:xfrm>
          <a:prstGeom prst="rect">
            <a:avLst/>
          </a:prstGeom>
          <a:solidFill>
            <a:srgbClr val="2EAD6B"/>
          </a:solidFill>
          <a:ln w="12700">
            <a:solidFill>
              <a:srgbClr val="2EA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859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Automated Gel Cassette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859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Improves Molding Speed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18888" y="12161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57800" y="1197864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gel casting: ~10.9 min/gel per 12h shift. Upgrading to a fully automated cassette injection system can reduce cycle time to sub-8 min/gel and reduce human error.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18888" y="16642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49240" y="164592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Molding CT: 10.9 → ~7.5 min/gel (+30% throughput) | Reduces labor dependency | Better batch consistency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18888" y="21031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A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05272" y="20848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investment. AeroShield has begun transition to cassette system — full automation is the logical next step.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2880360"/>
            <a:ext cx="4297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" y="2880360"/>
            <a:ext cx="4297680" cy="33832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8328" y="2916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In-Line Process Sensors + SPC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2916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Quality &amp; Yield Control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328" y="32735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77240" y="3255264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QC gates (post-CPD grading + final IGU inspection) are manual and time-consuming. Optical sensors and Statistical Process Control (SPC) can catch defects earlier.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8328" y="37216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68680" y="370332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scrap rate from ~10% toward 5% | Earlier detection = lower rework cost | Replaces 2h manual grading with real-time monitoring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8328" y="41605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4712" y="4142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cost; integrates with existing vessel + oven controls. IoT sensor packages widely available.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2880360"/>
            <a:ext cx="4297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09160" y="2880360"/>
            <a:ext cx="4297680" cy="338328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18888" y="2916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Digital Twin / MES Platform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2916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Planning &amp; Scheduling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18888" y="32735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57800" y="3255264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 vessel runs/week and multiple parallel lines, scheduling complexity grows. A Manufacturing Execution System (MES) or digital twin enables real-time capacity planning.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18888" y="37216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49240" y="370332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B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scheduling errors | Optimize WIP buffer sizing dynamically | Enable predictive maintenance on CPD vessel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18888" y="41605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05272" y="4142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MES solutions (e.g., Tulip, Plex) available at $20K–$80K/yr. Low implementation risk.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AeroShield · Operations Portfolio · Hult International Business School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B5F8E"/>
          </a:solidFill>
          <a:ln w="12700">
            <a:solidFill>
              <a:srgbClr val="2B5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95160" y="54864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06640" y="54864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54864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0" y="54864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95160" y="128016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06640" y="128016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18120" y="128016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95160" y="201168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06640" y="201168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18120" y="201168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201168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274320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06640" y="274320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18120" y="274320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0" y="274320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95160" y="347472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06640" y="347472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18120" y="347472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0" y="3474720"/>
            <a:ext cx="64008" cy="64008"/>
          </a:xfrm>
          <a:prstGeom prst="ellipse">
            <a:avLst/>
          </a:prstGeom>
          <a:solidFill>
            <a:srgbClr val="4A90C4">
              <a:alpha val="45000"/>
            </a:srgbClr>
          </a:solidFill>
          <a:ln w="12700">
            <a:solidFill>
              <a:srgbClr val="4A90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5029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2A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8046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Diagnostic Summary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20040" y="1389888"/>
            <a:ext cx="2286000" cy="36576"/>
          </a:xfrm>
          <a:prstGeom prst="rect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1508760"/>
            <a:ext cx="274320" cy="274320"/>
          </a:xfrm>
          <a:prstGeom prst="ellipse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151790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king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17099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aerogel production has zero tolerance for defect propagation. Quality = competitive advantage.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2167128"/>
            <a:ext cx="274320" cy="274320"/>
          </a:xfrm>
          <a:prstGeom prst="ellipse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004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217627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is the bottleneck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23682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 min/unit cycle time in both phases. All scaling efforts must address this before targeting 5,600 sqft/week.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2825496"/>
            <a:ext cx="274320" cy="274320"/>
          </a:xfrm>
          <a:prstGeom prst="ellipse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283464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1.1 = volume, not speed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" y="30266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weekly output via a 5th vessel run. Per-unit throughput time unchanged at ~74 hours.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483864"/>
            <a:ext cx="274320" cy="274320"/>
          </a:xfrm>
          <a:prstGeom prst="ellipse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" y="34930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vessel is the #1 technology priority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" y="368503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rate-limiting constraint, halves utilisation risk, and enables target production levels.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142232"/>
            <a:ext cx="274320" cy="274320"/>
          </a:xfrm>
          <a:prstGeom prst="ellipse">
            <a:avLst/>
          </a:prstGeom>
          <a:solidFill>
            <a:srgbClr val="F2A71B"/>
          </a:solidFill>
          <a:ln w="12700">
            <a:solidFill>
              <a:srgbClr val="F2A7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5800" y="415137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AeroShield's 4Vs profile is clear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5800" y="43434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· Low Variety · Low Variation · Low Visibility → optimise for flow, not flexibility.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B5F8E"/>
          </a:solidFill>
          <a:ln w="12700">
            <a:solidFill>
              <a:srgbClr val="2B5F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2140</Words>
  <Application>Microsoft Macintosh PowerPoint</Application>
  <PresentationFormat>On-screen Show (16:9)</PresentationFormat>
  <Paragraphs>507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AeroShield Operations Portfolio</dc:title>
  <dc:subject>PptxGenJS Presentation</dc:subject>
  <dc:creator>PptxGenJS</dc:creator>
  <cp:lastModifiedBy>Adam El Harouchi</cp:lastModifiedBy>
  <cp:revision>2</cp:revision>
  <dcterms:created xsi:type="dcterms:W3CDTF">2026-03-17T16:09:47Z</dcterms:created>
  <dcterms:modified xsi:type="dcterms:W3CDTF">2026-03-17T19:08:01Z</dcterms:modified>
</cp:coreProperties>
</file>